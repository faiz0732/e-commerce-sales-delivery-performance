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5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E3A8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2743200"/>
            <a:ext cx="3657600" cy="3657600"/>
          </a:xfrm>
          <a:prstGeom prst="ellipse">
            <a:avLst/>
          </a:prstGeom>
          <a:solidFill>
            <a:srgbClr val="F9731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914400"/>
            <a:ext cx="20116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dirty="0"/>
              <a:t>CAPSTONE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960120"/>
            <a:ext cx="18288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Arial"/>
              </a:defRPr>
            </a:pPr>
            <a:r>
              <a:t>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 Black"/>
              </a:defRPr>
            </a:pPr>
            <a:r>
              <a:rPr dirty="0"/>
              <a:t>OLIST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1645920"/>
            <a:ext cx="60436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60A5FA"/>
                </a:solidFill>
                <a:latin typeface="Arial Black"/>
              </a:defRPr>
            </a:pPr>
            <a:r>
              <a:rPr lang="en-IN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E-COMMERCE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 Black"/>
              </a:defRPr>
            </a:pPr>
            <a:r>
              <a:rPr dirty="0"/>
              <a:t>Store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1645920" cy="548640"/>
          </a:xfrm>
          <a:prstGeom prst="roundRect">
            <a:avLst/>
          </a:prstGeom>
          <a:solidFill>
            <a:srgbClr val="1E293B">
              <a:alpha val="7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931920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977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840480"/>
            <a:ext cx="1645920" cy="548640"/>
          </a:xfrm>
          <a:prstGeom prst="roundRect">
            <a:avLst/>
          </a:prstGeom>
          <a:solidFill>
            <a:srgbClr val="1E293B">
              <a:alpha val="7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usto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9319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83280" y="3977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840480"/>
            <a:ext cx="1645920" cy="548640"/>
          </a:xfrm>
          <a:prstGeom prst="roundRect">
            <a:avLst/>
          </a:prstGeom>
          <a:solidFill>
            <a:srgbClr val="1E293B">
              <a:alpha val="7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ell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93192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03520" y="3977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Sellers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840480"/>
            <a:ext cx="2560320" cy="548640"/>
          </a:xfrm>
          <a:prstGeom prst="roundRect">
            <a:avLst/>
          </a:prstGeom>
          <a:solidFill>
            <a:srgbClr val="1E293B">
              <a:alpha val="7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eliv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931920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23760" y="3977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Delivery Performance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029200"/>
            <a:ext cx="4572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Analysis based on Brazilian OLIST Public Dataset (2016–2018)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0" y="5486400"/>
            <a:ext cx="12188952" cy="1371600"/>
          </a:xfrm>
          <a:prstGeom prst="roundRect">
            <a:avLst>
              <a:gd name="adj" fmla="val 5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Arial"/>
              </a:defRPr>
            </a:pPr>
            <a:r>
              <a:t>TOOLS &amp; TECHNOLOGIES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6035040"/>
            <a:ext cx="457200" cy="457200"/>
          </a:xfrm>
          <a:prstGeom prst="roundRect">
            <a:avLst/>
          </a:prstGeom>
          <a:solidFill>
            <a:srgbClr val="3B82F6">
              <a:alpha val="20000"/>
            </a:srgbClr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6080760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6304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6263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Arial"/>
              </a:defRPr>
            </a:pPr>
            <a:r>
              <a:t>EXTRACTION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6035040"/>
            <a:ext cx="457200" cy="457200"/>
          </a:xfrm>
          <a:prstGeom prst="roundRect">
            <a:avLst/>
          </a:prstGeom>
          <a:solidFill>
            <a:srgbClr val="10B981">
              <a:alpha val="20000"/>
            </a:srgbClr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Exc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6080760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47472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6263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Arial"/>
              </a:defRPr>
            </a:pPr>
            <a:r>
              <a:t>PROCESSING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6035040"/>
            <a:ext cx="457200" cy="457200"/>
          </a:xfrm>
          <a:prstGeom prst="roundRect">
            <a:avLst/>
          </a:prstGeom>
          <a:solidFill>
            <a:srgbClr val="6366F1">
              <a:alpha val="20000"/>
            </a:srgbClr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Tablea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6080760"/>
            <a:ext cx="365760" cy="365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864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Tableau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263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Arial"/>
              </a:defRPr>
            </a:pPr>
            <a:r>
              <a:t>VIZ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6035040"/>
            <a:ext cx="457200" cy="457200"/>
          </a:xfrm>
          <a:prstGeom prst="roundRect">
            <a:avLst/>
          </a:prstGeom>
          <a:solidFill>
            <a:srgbClr val="EAB308">
              <a:alpha val="20000"/>
            </a:srgbClr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PowerB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6080760"/>
            <a:ext cx="365760" cy="3657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9808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Power BI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6263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5669280"/>
            <a:ext cx="9144" cy="10058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5669280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Arial"/>
              </a:defRPr>
            </a:pPr>
            <a:r>
              <a:rPr dirty="0"/>
              <a:t>PRE</a:t>
            </a:r>
            <a:r>
              <a:rPr lang="en-IN" dirty="0"/>
              <a:t>PARED</a:t>
            </a:r>
            <a:r>
              <a:rPr dirty="0"/>
              <a:t> BY</a:t>
            </a:r>
          </a:p>
        </p:txBody>
      </p:sp>
      <p:sp>
        <p:nvSpPr>
          <p:cNvPr id="46" name="Oval 45"/>
          <p:cNvSpPr/>
          <p:nvPr/>
        </p:nvSpPr>
        <p:spPr>
          <a:xfrm>
            <a:off x="9238672" y="6062288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99881" y="6089145"/>
            <a:ext cx="3657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 dirty="0"/>
              <a:t>MF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6035040"/>
            <a:ext cx="1792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400" dirty="0"/>
              <a:t>Mohammad Faiz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3B82F6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9CA3AF"/>
                </a:solidFill>
                <a:latin typeface="Arial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3B82F6"/>
                </a:solidFill>
                <a:latin typeface="Arial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CA3AF"/>
                </a:solidFill>
                <a:latin typeface="Arial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Analyzing digital retail performance in the Brazilian market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47472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3474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9CA3AF"/>
                </a:solidFill>
                <a:latin typeface="Arial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SOURCE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97316"/>
                </a:solidFill>
                <a:latin typeface="Arial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Brazilian OLIST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CA3AF"/>
                </a:solidFill>
                <a:latin typeface="Arial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Comprehensive public dataset of orders placed at Olist Store.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377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Picture 16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512064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5120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9CA3AF"/>
                </a:solidFill>
                <a:latin typeface="Arial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ANALYSIS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14B8A6"/>
                </a:solidFill>
                <a:latin typeface="Arial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2016 –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15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CA3AF"/>
                </a:solidFill>
                <a:latin typeface="Arial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24-month historical trend analysis covering peak retail seasons.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645920"/>
            <a:ext cx="6858000" cy="47548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Picture 21" descr="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74520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0" y="1874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Focus Areas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CA3AF"/>
                </a:solidFill>
                <a:latin typeface="Arial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pillars guiding the data analysis process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2743200"/>
            <a:ext cx="6309360" cy="822960"/>
          </a:xfrm>
          <a:prstGeom prst="roundRect">
            <a:avLst/>
          </a:prstGeom>
          <a:solidFill>
            <a:srgbClr val="1E293B">
              <a:alpha val="40000"/>
            </a:srgbClr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212080" y="2880360"/>
            <a:ext cx="548640" cy="548640"/>
          </a:xfrm>
          <a:prstGeom prst="roundRect">
            <a:avLst/>
          </a:prstGeom>
          <a:solidFill>
            <a:srgbClr val="3B82F6">
              <a:alpha val="20000"/>
            </a:srgbClr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Picture 26" descr="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971800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3B82F6"/>
                </a:solidFill>
                <a:latin typeface="Arial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Analyzing revenue trends, order volumes, and average order values (AOV) over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3657600"/>
            <a:ext cx="6309360" cy="822960"/>
          </a:xfrm>
          <a:prstGeom prst="roundRect">
            <a:avLst/>
          </a:prstGeom>
          <a:solidFill>
            <a:srgbClr val="1E293B">
              <a:alpha val="40000"/>
            </a:srgbClr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212080" y="3794760"/>
            <a:ext cx="548640" cy="548640"/>
          </a:xfrm>
          <a:prstGeom prst="roundRect">
            <a:avLst/>
          </a:prstGeom>
          <a:solidFill>
            <a:srgbClr val="14B8A6">
              <a:alpha val="20000"/>
            </a:srgbClr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2" name="Picture 31" descr="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886200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4B8A6"/>
                </a:solidFill>
                <a:latin typeface="Arial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 Behavior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977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Understanding geographic distribution and purchasing patterns of customers.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4572000"/>
            <a:ext cx="6309360" cy="822960"/>
          </a:xfrm>
          <a:prstGeom prst="roundRect">
            <a:avLst/>
          </a:prstGeom>
          <a:solidFill>
            <a:srgbClr val="1E293B">
              <a:alpha val="40000"/>
            </a:srgbClr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12080" y="4709160"/>
            <a:ext cx="548640" cy="548640"/>
          </a:xfrm>
          <a:prstGeom prst="roundRect">
            <a:avLst/>
          </a:prstGeom>
          <a:solidFill>
            <a:srgbClr val="A855F7">
              <a:alpha val="20000"/>
            </a:srgbClr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7" name="Picture 36" descr="St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4800600"/>
            <a:ext cx="365760" cy="365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4360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A855F7"/>
                </a:solidFill>
                <a:latin typeface="Arial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Sellers &amp; Payments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Evaluating seller reach across states and payment method preferences.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5486400"/>
            <a:ext cx="6309360" cy="822960"/>
          </a:xfrm>
          <a:prstGeom prst="roundRect">
            <a:avLst/>
          </a:prstGeom>
          <a:solidFill>
            <a:srgbClr val="1E293B">
              <a:alpha val="40000"/>
            </a:srgbClr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212080" y="5623560"/>
            <a:ext cx="548640" cy="548640"/>
          </a:xfrm>
          <a:prstGeom prst="roundRect">
            <a:avLst/>
          </a:prstGeom>
          <a:solidFill>
            <a:srgbClr val="F97316">
              <a:alpha val="20000"/>
            </a:srgbClr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2" name="Picture 41" descr="Tru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5715000"/>
            <a:ext cx="365760" cy="3657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94360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97316"/>
                </a:solidFill>
                <a:latin typeface="Arial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Delivery &amp; Satisfaction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806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Correlating delivery times with customer review scores and identifying logistics bottlenecks.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0"/>
            <a:ext cx="5486400" cy="5486400"/>
          </a:xfrm>
          <a:prstGeom prst="ellipse">
            <a:avLst/>
          </a:prstGeom>
          <a:solidFill>
            <a:srgbClr val="60A5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2DD4B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731520"/>
            <a:ext cx="4572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60A5FA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60A5F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071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9CA3AF"/>
                </a:solidFill>
                <a:latin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goals driving the analytical process and dashboard creation.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6400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Char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5176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&amp; Revenue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68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9CA3AF"/>
                </a:solidFill>
                <a:latin typeface="Arial Black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Analyze historical sales data to identify seasonal patterns, growth rates, and revenue drivers over the 2016-2018 period.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0" y="2560320"/>
            <a:ext cx="6400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 descr="MapM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5176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2376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Geographic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468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9CA3AF"/>
                </a:solidFill>
                <a:latin typeface="Arial Black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34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 customer and seller locations across Brazilian states to understand market penetration and logistics coverage.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97708"/>
            <a:ext cx="5029200" cy="1493518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97280" y="4132448"/>
            <a:ext cx="6400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Picture 21" descr="W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223888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20240" y="405705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Payment Behavior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089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9CA3AF"/>
                </a:solidFill>
                <a:latin typeface="Arial Black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4198" y="435864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Study payment method preferences (credit card,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boleto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voucher) and installment patterns to optimize checkout experiences.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97708"/>
            <a:ext cx="5029200" cy="1493518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16842" y="4132448"/>
            <a:ext cx="640080" cy="6400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8" name="Picture 27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282" y="4223888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23760" y="405705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Delivery &amp; Satisfaction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0089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9CA3AF"/>
                </a:solidFill>
                <a:latin typeface="Arial Black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26558"/>
            <a:ext cx="3840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Evaluate delivery performance metrics and correlate delivery times with customer satisfaction scores to identify friction points.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301917"/>
            <a:ext cx="10332720" cy="1335282"/>
          </a:xfrm>
          <a:prstGeom prst="roundRect">
            <a:avLst>
              <a:gd name="adj" fmla="val 500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7280" y="5734027"/>
            <a:ext cx="64008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4" name="Picture 33" descr="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583691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920240" y="547196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Interactive BI Dashboards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9CA3AF"/>
                </a:solidFill>
                <a:latin typeface="Arial Black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4198" y="570617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Construct dynamic, interactive dashboards in Power BI and Tableau to enable stakeholders to self-serve insights and monitor KPIs in real-time.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548640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058400" y="-1828800"/>
            <a:ext cx="4572000" cy="4572000"/>
          </a:xfrm>
          <a:prstGeom prst="ellipse">
            <a:avLst/>
          </a:prstGeom>
          <a:solidFill>
            <a:srgbClr val="2DD4B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657600" y="1828800"/>
            <a:ext cx="5486400" cy="3657600"/>
          </a:xfrm>
          <a:prstGeom prst="ellipse">
            <a:avLst/>
          </a:prstGeom>
          <a:solidFill>
            <a:srgbClr val="3B82F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54880" y="457200"/>
            <a:ext cx="256032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80" y="502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3B82F6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TECHNICAL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914400"/>
            <a:ext cx="7360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Tools &amp;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54480"/>
            <a:ext cx="6702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9CA3AF"/>
                </a:solidFill>
                <a:latin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integrated technology stack used for data extraction, processing, analysis, and visualization.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7744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148840" y="2560320"/>
            <a:ext cx="914400" cy="914400"/>
          </a:xfrm>
          <a:prstGeom prst="ellipse">
            <a:avLst/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 descr="MySQL_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65176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MySQL Workbench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database management for data storage, cleaning, and complex KPI calculations using SQL queries.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37744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15000" y="2560320"/>
            <a:ext cx="914400" cy="914400"/>
          </a:xfrm>
          <a:prstGeom prst="ellipse">
            <a:avLst/>
          </a:prstGeom>
          <a:solidFill>
            <a:srgbClr val="10B98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 descr="Microsoft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51760"/>
            <a:ext cx="731520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Microsoft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Initial data validation, pivot table analysis, and quick verification of results before BI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7744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281160" y="2560320"/>
            <a:ext cx="914400" cy="914400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 descr="Tablea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651760"/>
            <a:ext cx="731520" cy="731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3816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Tableau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Advanced exploratory data analysis and creation of compelling visual stories with interactive filters.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66344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3886200" y="4846320"/>
            <a:ext cx="914400" cy="914400"/>
          </a:xfrm>
          <a:prstGeom prst="ellipse">
            <a:avLst/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Picture 25" descr="Power_B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4937760"/>
            <a:ext cx="731520" cy="7315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7432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943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Development of multi-page interactive dashboards for deep-dive analysis of sales, customers, and delivery.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66344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452360" y="4846320"/>
            <a:ext cx="914400" cy="914400"/>
          </a:xfrm>
          <a:prstGeom prst="ellipse">
            <a:avLst/>
          </a:prstGeom>
          <a:solidFill>
            <a:srgbClr val="EF444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1" name="Picture 30" descr="PowerPo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4937760"/>
            <a:ext cx="731520" cy="7315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PowerPoint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943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Synthesis of findings into a professional presentation deck for stakeholder communication.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8B5CF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457200"/>
            <a:ext cx="2011680" cy="27432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75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3B82F6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PERFORMANCE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Major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9CA3AF"/>
                </a:solidFill>
                <a:latin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indicators tracking sales, operations, and customer satisfaction across the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28600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 descr="Total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Aggregate count of all purchase orders processed.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10312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108960" y="228600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 descr="Total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3317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0896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Gross Sales Volume (GMV) across all categories.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10312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49240" y="228600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 descr="Avg_Order_Va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331720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 Order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Mean revenue generated per unique order.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10312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0" y="228600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Picture 25" descr="Success_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33172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Success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Percentage of orders successfully delivered.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210312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829800" y="228600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1" name="Picture 30" descr="Avg_Delivery_Day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2331720"/>
            <a:ext cx="365760" cy="365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2980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 Delivery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Average time from approval to customer delivery.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3434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68680" y="452628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6" name="Picture 35" descr="Avg_Review_Sc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572000"/>
            <a:ext cx="365760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868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 Review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40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 satisfaction rating on 1-5 scale.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43434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108960" y="452628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1" name="Picture 40" descr="Payment_Typ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4680" y="4572000"/>
            <a:ext cx="365760" cy="3657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10896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Payment Types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440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Distribution of credit card, boleto, vouchers.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66360" y="43434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349240" y="452628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6" name="Picture 45" descr="Top_Cust_Stat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4572000"/>
            <a:ext cx="365760" cy="3657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34924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 Cust. States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5440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Leading states by order volume (e.g., SP, RJ).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06640" y="43434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589520" y="452628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1" name="Picture 50" descr="Top_Seller_Stat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4572000"/>
            <a:ext cx="365760" cy="36576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58952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 Seller States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5440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Geographic concentration of seller base.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46920" y="43434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829800" y="4526280"/>
            <a:ext cx="457200" cy="457200"/>
          </a:xfrm>
          <a:prstGeom prst="round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6" name="Picture 55" descr="Product_Rank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0" y="4572000"/>
            <a:ext cx="365760" cy="3657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82980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Ranking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800" y="5440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Best and worst performing categories by revenue.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2C55E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E3A8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6304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2C55E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"/>
            <a:ext cx="5861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Excel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640080"/>
            <a:ext cx="201168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Picture 29" descr="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731520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6696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Preliminary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2657" y="1645920"/>
            <a:ext cx="3840480" cy="47548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1723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Workflow Role</a:t>
            </a:r>
          </a:p>
        </p:txBody>
      </p:sp>
      <p:sp>
        <p:nvSpPr>
          <p:cNvPr id="34" name="Oval 33"/>
          <p:cNvSpPr/>
          <p:nvPr/>
        </p:nvSpPr>
        <p:spPr>
          <a:xfrm>
            <a:off x="829430" y="2377440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5373" y="22767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Cleaning &amp;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6130" y="24868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Removing duplicates, handling null values, and standardizing formats.</a:t>
            </a:r>
          </a:p>
        </p:txBody>
      </p:sp>
      <p:sp>
        <p:nvSpPr>
          <p:cNvPr id="37" name="Oval 36"/>
          <p:cNvSpPr/>
          <p:nvPr/>
        </p:nvSpPr>
        <p:spPr>
          <a:xfrm>
            <a:off x="829431" y="3154680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6121" y="3063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Pivot Table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130" y="328260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Quick calculation of core KPIs like Revenue and Order Counts.</a:t>
            </a:r>
          </a:p>
        </p:txBody>
      </p:sp>
      <p:sp>
        <p:nvSpPr>
          <p:cNvPr id="40" name="Oval 39"/>
          <p:cNvSpPr/>
          <p:nvPr/>
        </p:nvSpPr>
        <p:spPr>
          <a:xfrm>
            <a:off x="847903" y="3931920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03073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Preliminary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73" y="4069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Initial assessment of sales trends and delivery timelines.</a:t>
            </a:r>
          </a:p>
        </p:txBody>
      </p:sp>
      <p:sp>
        <p:nvSpPr>
          <p:cNvPr id="43" name="Oval 42"/>
          <p:cNvSpPr/>
          <p:nvPr/>
        </p:nvSpPr>
        <p:spPr>
          <a:xfrm>
            <a:off x="857140" y="4709159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21544" y="4617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Cross-Verification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9254" y="4846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Validating numbers before importing into Tableau &amp; Power BI.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5540" y="5486400"/>
            <a:ext cx="3474720" cy="731520"/>
          </a:xfrm>
          <a:prstGeom prst="roundRect">
            <a:avLst/>
          </a:prstGeom>
          <a:solidFill>
            <a:srgbClr val="14532D">
              <a:alpha val="20000"/>
            </a:srgbClr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7" name="Picture 46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66" y="5623560"/>
            <a:ext cx="457200" cy="4572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76225" y="55778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22C55E"/>
                </a:solidFill>
                <a:latin typeface="Arial"/>
              </a:defRPr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VALIDATION 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85457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FFFFFF"/>
                </a:solidFill>
                <a:latin typeface="Arial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100% Data Integrity Confirmed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1645920"/>
            <a:ext cx="6858000" cy="4754880"/>
          </a:xfrm>
          <a:prstGeom prst="roundRect">
            <a:avLst/>
          </a:prstGeom>
          <a:solidFill>
            <a:srgbClr val="1E293B">
              <a:alpha val="40000"/>
            </a:srgbClr>
          </a:solidFill>
          <a:ln w="19050">
            <a:solidFill>
              <a:srgbClr val="22C55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7909560" y="2926080"/>
            <a:ext cx="1097280" cy="1097280"/>
          </a:xfrm>
          <a:prstGeom prst="ellipse">
            <a:avLst/>
          </a:prstGeom>
          <a:solidFill>
            <a:srgbClr val="1E293B"/>
          </a:solidFill>
          <a:ln>
            <a:solidFill>
              <a:srgbClr val="22C55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2" name="Picture 51" descr="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200400"/>
            <a:ext cx="548640" cy="5486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2920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Excel Dashboard Visualization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Insert the screenshot of the Excel dashboard here showing pivot tables and initial charts.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43800" y="5120640"/>
            <a:ext cx="182880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 Image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6771165-ABEC-45EA-9660-38CB5D941F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r="748" b="1101"/>
          <a:stretch/>
        </p:blipFill>
        <p:spPr>
          <a:xfrm>
            <a:off x="4972807" y="1097280"/>
            <a:ext cx="6943948" cy="283781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4EF9B0F6-3357-42D6-B80B-2D16764CAA5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5" t="474" r="395" b="1484"/>
          <a:stretch/>
        </p:blipFill>
        <p:spPr>
          <a:xfrm>
            <a:off x="4969260" y="3931920"/>
            <a:ext cx="6947494" cy="2783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F9731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A855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6304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97316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EXPLORATORY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"/>
            <a:ext cx="6245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Tableau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298340"/>
            <a:ext cx="201168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Picture 29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528" y="399016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66960" y="3902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Visual Storytelling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1645920"/>
            <a:ext cx="3840480" cy="47548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Analysis &amp; Modeling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" y="2377440"/>
            <a:ext cx="73152" cy="7315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8016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Relationship Data Modeling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Connecting Orders, Customers, and Products for holistic views.</a:t>
            </a:r>
          </a:p>
        </p:txBody>
      </p:sp>
      <p:sp>
        <p:nvSpPr>
          <p:cNvPr id="37" name="Oval 36"/>
          <p:cNvSpPr/>
          <p:nvPr/>
        </p:nvSpPr>
        <p:spPr>
          <a:xfrm>
            <a:off x="1097280" y="3108960"/>
            <a:ext cx="73152" cy="7315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8016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Revenue Trend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246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Time-series visualization of sales performance (2016-2018).</a:t>
            </a:r>
          </a:p>
        </p:txBody>
      </p:sp>
      <p:sp>
        <p:nvSpPr>
          <p:cNvPr id="40" name="Oval 39"/>
          <p:cNvSpPr/>
          <p:nvPr/>
        </p:nvSpPr>
        <p:spPr>
          <a:xfrm>
            <a:off x="1097280" y="3840479"/>
            <a:ext cx="73152" cy="7315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80160" y="37490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Geographic Distribution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9776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Mapping customer and seller density across Brazilian states.</a:t>
            </a:r>
          </a:p>
        </p:txBody>
      </p:sp>
      <p:sp>
        <p:nvSpPr>
          <p:cNvPr id="43" name="Oval 42"/>
          <p:cNvSpPr/>
          <p:nvPr/>
        </p:nvSpPr>
        <p:spPr>
          <a:xfrm>
            <a:off x="1097280" y="4571999"/>
            <a:ext cx="73152" cy="7315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80160" y="448055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Payment Behavior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7091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Analyzing preference for Credit Cards vs. Boleto methods.</a:t>
            </a:r>
          </a:p>
        </p:txBody>
      </p:sp>
      <p:sp>
        <p:nvSpPr>
          <p:cNvPr id="46" name="Oval 45"/>
          <p:cNvSpPr/>
          <p:nvPr/>
        </p:nvSpPr>
        <p:spPr>
          <a:xfrm>
            <a:off x="1097280" y="5303519"/>
            <a:ext cx="73152" cy="7315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80160" y="52120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Interactive Filtering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44067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Drill-down capabilities by state, product category, and time.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5760720"/>
            <a:ext cx="3474720" cy="731520"/>
          </a:xfrm>
          <a:prstGeom prst="roundRect">
            <a:avLst/>
          </a:prstGeom>
          <a:solidFill>
            <a:srgbClr val="581C87">
              <a:alpha val="20000"/>
            </a:srgbClr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0" name="Picture 49" descr="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897880"/>
            <a:ext cx="457200" cy="4572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828800" y="5852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A855F7"/>
                </a:solidFill>
                <a:latin typeface="Arial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INTERACTIVITY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FFFFFF"/>
                </a:solidFill>
                <a:latin typeface="Arial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Full Drill-Down Enabled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77872" y="801260"/>
            <a:ext cx="5486400" cy="6056740"/>
          </a:xfrm>
          <a:prstGeom prst="roundRect">
            <a:avLst/>
          </a:prstGeom>
          <a:solidFill>
            <a:srgbClr val="1E293B">
              <a:alpha val="40000"/>
            </a:srgbClr>
          </a:solidFill>
          <a:ln w="19050">
            <a:solidFill>
              <a:srgbClr val="F973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7909560" y="2926080"/>
            <a:ext cx="1097280" cy="1097280"/>
          </a:xfrm>
          <a:prstGeom prst="ellipse">
            <a:avLst/>
          </a:prstGeom>
          <a:solidFill>
            <a:srgbClr val="1E293B"/>
          </a:solidFill>
          <a:ln>
            <a:solidFill>
              <a:srgbClr val="F973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5" name="Picture 54" descr="Tableau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200400"/>
            <a:ext cx="548640" cy="5486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02920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Tableau Visualization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Insert the screenshot of the Tableau dashboard here showing maps and trend charts.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43800" y="5120640"/>
            <a:ext cx="1828800" cy="3657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 Image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86BB07D-98A5-4A13-A3FC-3CF4C2B47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97" y="1010031"/>
            <a:ext cx="4670366" cy="5620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F59E0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6304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INTERACTIVE DASHBOARD • PAGE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"/>
            <a:ext cx="82204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Power BI: Sales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640080"/>
            <a:ext cx="210312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Picture 29" descr="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731520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66960" y="685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Business Performance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1645920"/>
            <a:ext cx="3840480" cy="47548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Visuals &amp; Metrics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" y="237744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8016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KPIs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 Orders, Total Revenue, and Average Order Value (AOV) scorecards.</a:t>
            </a:r>
          </a:p>
        </p:txBody>
      </p:sp>
      <p:sp>
        <p:nvSpPr>
          <p:cNvPr id="37" name="Oval 36"/>
          <p:cNvSpPr/>
          <p:nvPr/>
        </p:nvSpPr>
        <p:spPr>
          <a:xfrm>
            <a:off x="1097280" y="315468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80160" y="3063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Revenue Trends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291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Time-series analysis showing Year/Month-wise revenue growth.</a:t>
            </a:r>
          </a:p>
        </p:txBody>
      </p:sp>
      <p:sp>
        <p:nvSpPr>
          <p:cNvPr id="40" name="Oval 39"/>
          <p:cNvSpPr/>
          <p:nvPr/>
        </p:nvSpPr>
        <p:spPr>
          <a:xfrm>
            <a:off x="1097280" y="393192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8016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Patterns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069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Comparative analysis of Weekday vs. Weekend purchasing activity.</a:t>
            </a:r>
          </a:p>
        </p:txBody>
      </p:sp>
      <p:sp>
        <p:nvSpPr>
          <p:cNvPr id="43" name="Oval 42"/>
          <p:cNvSpPr/>
          <p:nvPr/>
        </p:nvSpPr>
        <p:spPr>
          <a:xfrm>
            <a:off x="1097280" y="4709159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80160" y="4617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Delivery Success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846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 delivery success rate monitoring logistics efficiency.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86400"/>
            <a:ext cx="3474720" cy="731520"/>
          </a:xfrm>
          <a:prstGeom prst="roundRect">
            <a:avLst/>
          </a:prstGeom>
          <a:solidFill>
            <a:srgbClr val="78350F">
              <a:alpha val="20000"/>
            </a:srgbClr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7" name="Picture 46" descr="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623560"/>
            <a:ext cx="457200" cy="4572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828800" y="55778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59E0B"/>
                </a:solidFill>
                <a:latin typeface="Arial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DASHBOARD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FFFFF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Focus on Revenue Growth &amp; Seasonality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1645920"/>
            <a:ext cx="6858000" cy="4653465"/>
          </a:xfrm>
          <a:prstGeom prst="roundRect">
            <a:avLst/>
          </a:prstGeom>
          <a:solidFill>
            <a:srgbClr val="1E293B">
              <a:alpha val="40000"/>
            </a:srgbClr>
          </a:solidFill>
          <a:ln w="19050">
            <a:solidFill>
              <a:srgbClr val="F59E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7909560" y="2926080"/>
            <a:ext cx="1097280" cy="1097280"/>
          </a:xfrm>
          <a:prstGeom prst="ellipse">
            <a:avLst/>
          </a:prstGeom>
          <a:solidFill>
            <a:srgbClr val="1E293B"/>
          </a:solidFill>
          <a:ln>
            <a:solidFill>
              <a:srgbClr val="F59E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2" name="Picture 51" descr="PowerBI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200400"/>
            <a:ext cx="548640" cy="5486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2920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Power BI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Insert screenshot of the "Sales Overview" page here.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86600" y="5120640"/>
            <a:ext cx="27432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 Sales Dashboard Image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CB56CFC-D267-4692-8592-1064F1253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2139219"/>
            <a:ext cx="6538858" cy="3730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F59E0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E3A8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6304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GEOGRAPHIC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"/>
            <a:ext cx="84216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Customer &amp; Seller Insights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640080"/>
            <a:ext cx="201168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Picture 29" descr="Power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731520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6696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Power BI Page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1645920"/>
            <a:ext cx="3840480" cy="47548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Focus Areas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" y="237744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8016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 Customer States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Analyzing concentration of buyers in SP, RJ, and MG regions.</a:t>
            </a:r>
          </a:p>
        </p:txBody>
      </p:sp>
      <p:sp>
        <p:nvSpPr>
          <p:cNvPr id="37" name="Oval 36"/>
          <p:cNvSpPr/>
          <p:nvPr/>
        </p:nvSpPr>
        <p:spPr>
          <a:xfrm>
            <a:off x="1097280" y="315468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80160" y="3063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Seller Geography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291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Mapping seller distribution to identify logistics gaps.</a:t>
            </a:r>
          </a:p>
        </p:txBody>
      </p:sp>
      <p:sp>
        <p:nvSpPr>
          <p:cNvPr id="40" name="Oval 39"/>
          <p:cNvSpPr/>
          <p:nvPr/>
        </p:nvSpPr>
        <p:spPr>
          <a:xfrm>
            <a:off x="1097280" y="393192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8016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Geographic Distribution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069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Heatmaps showing order density across Brazilian states.</a:t>
            </a:r>
          </a:p>
        </p:txBody>
      </p:sp>
      <p:sp>
        <p:nvSpPr>
          <p:cNvPr id="43" name="Oval 42"/>
          <p:cNvSpPr/>
          <p:nvPr/>
        </p:nvSpPr>
        <p:spPr>
          <a:xfrm>
            <a:off x="1097280" y="4709159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80160" y="4617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Payment Preferences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846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Breakdown of Credit Card vs Boleto vs Voucher usage.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86400"/>
            <a:ext cx="3474720" cy="731520"/>
          </a:xfrm>
          <a:prstGeom prst="roundRect">
            <a:avLst/>
          </a:prstGeom>
          <a:solidFill>
            <a:srgbClr val="78350F">
              <a:alpha val="20000"/>
            </a:srgbClr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7" name="Picture 46" descr="MapM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623560"/>
            <a:ext cx="457200" cy="4572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828800" y="55778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59E0B"/>
                </a:solidFill>
                <a:latin typeface="Arial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SPATIAL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FFFFF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Regional Demand vs Supply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1645920"/>
            <a:ext cx="6858000" cy="4754880"/>
          </a:xfrm>
          <a:prstGeom prst="roundRect">
            <a:avLst/>
          </a:prstGeom>
          <a:solidFill>
            <a:srgbClr val="1E293B">
              <a:alpha val="40000"/>
            </a:srgbClr>
          </a:solidFill>
          <a:ln w="19050">
            <a:solidFill>
              <a:srgbClr val="F59E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7909560" y="2926080"/>
            <a:ext cx="1097280" cy="1097280"/>
          </a:xfrm>
          <a:prstGeom prst="ellipse">
            <a:avLst/>
          </a:prstGeom>
          <a:solidFill>
            <a:srgbClr val="1E293B"/>
          </a:solidFill>
          <a:ln>
            <a:solidFill>
              <a:srgbClr val="F59E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2" name="Picture 51" descr="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200400"/>
            <a:ext cx="548640" cy="5486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2920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 &amp; Seller 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Insert Power BI screenshot showing geographic maps and payment charts.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86600" y="5120640"/>
            <a:ext cx="27432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 Image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23129D1-8367-431C-9CEF-E43FC2D79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320" y="2124134"/>
            <a:ext cx="6583817" cy="37560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F59E0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E3A8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6304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OPERATIONAL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"/>
            <a:ext cx="9448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Delivery &amp; Store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640080"/>
            <a:ext cx="201168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Picture 29" descr="Log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731520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6696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Logistics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1645920"/>
            <a:ext cx="3840480" cy="475488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Insights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" y="237744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8016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Average Delivery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Analyzing logistics efficiency and transit times across regions.</a:t>
            </a:r>
          </a:p>
        </p:txBody>
      </p:sp>
      <p:sp>
        <p:nvSpPr>
          <p:cNvPr id="37" name="Oval 36"/>
          <p:cNvSpPr/>
          <p:nvPr/>
        </p:nvSpPr>
        <p:spPr>
          <a:xfrm>
            <a:off x="1097280" y="315468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80160" y="3063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Delivery Time vs Review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291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Correlation between shipping speed and customer satisfaction ratings.</a:t>
            </a:r>
          </a:p>
        </p:txBody>
      </p:sp>
      <p:sp>
        <p:nvSpPr>
          <p:cNvPr id="40" name="Oval 39"/>
          <p:cNvSpPr/>
          <p:nvPr/>
        </p:nvSpPr>
        <p:spPr>
          <a:xfrm>
            <a:off x="1097280" y="393192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8016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State-wise Performance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069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Identifying high-delay zones and regional bottlenecks.</a:t>
            </a:r>
          </a:p>
        </p:txBody>
      </p:sp>
      <p:sp>
        <p:nvSpPr>
          <p:cNvPr id="43" name="Oval 42"/>
          <p:cNvSpPr/>
          <p:nvPr/>
        </p:nvSpPr>
        <p:spPr>
          <a:xfrm>
            <a:off x="1097280" y="4709159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80160" y="4617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 &amp; Bottom Products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846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performance by revenue and delivery success rates.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86400"/>
            <a:ext cx="3474720" cy="731520"/>
          </a:xfrm>
          <a:prstGeom prst="roundRect">
            <a:avLst/>
          </a:prstGeom>
          <a:solidFill>
            <a:srgbClr val="78350F">
              <a:alpha val="20000"/>
            </a:srgbClr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7" name="Picture 46" descr="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623560"/>
            <a:ext cx="457200" cy="4572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828800" y="55778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59E0B"/>
                </a:solidFill>
                <a:latin typeface="Arial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LOGISTICS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FFFFF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Optimizing Regional Fulfillment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1645920"/>
            <a:ext cx="6858000" cy="4754880"/>
          </a:xfrm>
          <a:prstGeom prst="roundRect">
            <a:avLst/>
          </a:prstGeom>
          <a:solidFill>
            <a:srgbClr val="1E293B">
              <a:alpha val="40000"/>
            </a:srgbClr>
          </a:solidFill>
          <a:ln w="19050">
            <a:solidFill>
              <a:srgbClr val="F59E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7909560" y="2926080"/>
            <a:ext cx="1097280" cy="1097280"/>
          </a:xfrm>
          <a:prstGeom prst="ellipse">
            <a:avLst/>
          </a:prstGeom>
          <a:solidFill>
            <a:srgbClr val="1E293B"/>
          </a:solidFill>
          <a:ln>
            <a:solidFill>
              <a:srgbClr val="F59E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2" name="Picture 51" descr="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200400"/>
            <a:ext cx="548640" cy="5486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2920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Power BI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Insert screenshot showing delivery timelines, state maps, and product performance matrices.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86600" y="5120640"/>
            <a:ext cx="27432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Insert Image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ED86B67-1D18-48D2-9127-7A2AC13C4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848" y="2168665"/>
            <a:ext cx="6599777" cy="3765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3A8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3B82F6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ETL PROCESS &amp;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2275"/>
            <a:ext cx="9235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SQL Queries &amp; Data Preparation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640080"/>
            <a:ext cx="201168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731520"/>
            <a:ext cx="182880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6696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06984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371600" y="2377440"/>
            <a:ext cx="731520" cy="7315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514600"/>
            <a:ext cx="457200" cy="457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2918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280160" y="3154680"/>
            <a:ext cx="91440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016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Database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Creating schema and tables in MySQL for Orders, Items, Customers, and Geolocation data.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2377440"/>
            <a:ext cx="731520" cy="7315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 descr="CS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514600"/>
            <a:ext cx="457200" cy="457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971800" y="32918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32918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20440" y="3154680"/>
            <a:ext cx="91440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Loading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114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Bulk importing raw CSV datasets using LOAD DATA INFILE for efficient ingestion.</a:t>
            </a:r>
          </a:p>
        </p:txBody>
      </p:sp>
      <p:sp>
        <p:nvSpPr>
          <p:cNvPr id="28" name="Oval 27"/>
          <p:cNvSpPr/>
          <p:nvPr/>
        </p:nvSpPr>
        <p:spPr>
          <a:xfrm>
            <a:off x="5852160" y="2377440"/>
            <a:ext cx="731520" cy="7315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" name="Picture 28" descr="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514600"/>
            <a:ext cx="457200" cy="4572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212080" y="32918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212080" y="32918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0" y="3154680"/>
            <a:ext cx="91440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6072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Cleaning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114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Handling NULLs, standardizing timestamps, and fixing special characters in city names.</a:t>
            </a:r>
          </a:p>
        </p:txBody>
      </p:sp>
      <p:sp>
        <p:nvSpPr>
          <p:cNvPr id="36" name="Oval 35"/>
          <p:cNvSpPr/>
          <p:nvPr/>
        </p:nvSpPr>
        <p:spPr>
          <a:xfrm>
            <a:off x="8092440" y="2377440"/>
            <a:ext cx="731520" cy="7315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7" name="Picture 36" descr="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2514600"/>
            <a:ext cx="457200" cy="4572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7452360" y="32918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452360" y="32918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01000" y="3154680"/>
            <a:ext cx="91440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0100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Fact Creation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114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Creating a master VIEW by joining Orders, Payments, and Reviews tables.</a:t>
            </a:r>
          </a:p>
        </p:txBody>
      </p:sp>
      <p:sp>
        <p:nvSpPr>
          <p:cNvPr id="44" name="Oval 43"/>
          <p:cNvSpPr/>
          <p:nvPr/>
        </p:nvSpPr>
        <p:spPr>
          <a:xfrm>
            <a:off x="10332720" y="2377440"/>
            <a:ext cx="731520" cy="7315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5" name="Picture 44" descr="Calcula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0" y="2514600"/>
            <a:ext cx="457200" cy="45720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9692640" y="32918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692640" y="32918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241280" y="3154680"/>
            <a:ext cx="91440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4128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Calculation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114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Aggregating final metrics: Total Revenue, AOV, and Delivery Days for BI tools.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0" y="6217920"/>
            <a:ext cx="5788152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3" name="Picture 52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6309360"/>
            <a:ext cx="274320" cy="2743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739803" y="62631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FFFFFF"/>
                </a:solidFill>
                <a:latin typeface="Arial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Outcome: Clean, structured dataset ready for connection with Tableau and Power BI.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3B82F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72000" y="1828800"/>
            <a:ext cx="3657600" cy="3657600"/>
          </a:xfrm>
          <a:prstGeom prst="ellipse">
            <a:avLst/>
          </a:prstGeom>
          <a:solidFill>
            <a:srgbClr val="22C55E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2C55E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TAKEAWAYS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0080"/>
            <a:ext cx="7223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Summary of Findings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40080"/>
            <a:ext cx="201168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1" name="Picture 30" descr="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731520"/>
            <a:ext cx="182880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96696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FACC15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Insights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164592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97280" y="1828800"/>
            <a:ext cx="457200" cy="457200"/>
          </a:xfrm>
          <a:prstGeom prst="roundRect">
            <a:avLst/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5" name="Picture 34" descr="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74520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74720" y="1828800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rPr lang="en-IN" sz="2400" b="1" dirty="0">
                <a:solidFill>
                  <a:srgbClr val="FFFFFF"/>
                </a:solidFill>
                <a:latin typeface="Arial Black"/>
              </a:rPr>
              <a:t>0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2377440"/>
            <a:ext cx="3657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72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Robust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2834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Consistent upward trend in total orders and revenue from 2016 to 2018.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3566160"/>
            <a:ext cx="29260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72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3B82F6"/>
                </a:solidFill>
                <a:latin typeface="Courier New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+145% Year-over-Year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164592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617720" y="1828800"/>
            <a:ext cx="457200" cy="457200"/>
          </a:xfrm>
          <a:prstGeom prst="roundRect">
            <a:avLst/>
          </a:prstGeom>
          <a:solidFill>
            <a:srgbClr val="6366F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4" name="Picture 43" descr="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874520"/>
            <a:ext cx="365760" cy="3657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995160" y="1828800"/>
            <a:ext cx="649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237744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177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Weekday Activity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2834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volume peaks significantly during weekdays (Mon-Fri), suggesting B2B behavior.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3566160"/>
            <a:ext cx="29260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1772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6366F1"/>
                </a:solidFill>
                <a:latin typeface="Courier New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Peak: 2 PM - 4 PM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80" y="164592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138160" y="1828800"/>
            <a:ext cx="457200" cy="457200"/>
          </a:xfrm>
          <a:prstGeom prst="roundRect">
            <a:avLst/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3" name="Picture 52" descr="Box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874520"/>
            <a:ext cx="365760" cy="36576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515600" y="1828800"/>
            <a:ext cx="704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2377440"/>
            <a:ext cx="36576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3816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Logistics Success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28346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overall delivery success rate across major states, with most orders completing successfully.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3566160"/>
            <a:ext cx="29260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3816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2C55E"/>
                </a:solidFill>
                <a:latin typeface="Courier New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97.4% Delivered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4160520"/>
            <a:ext cx="6812280" cy="2286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1097280" y="4343400"/>
            <a:ext cx="548640" cy="548640"/>
          </a:xfrm>
          <a:prstGeom prst="roundRect">
            <a:avLst/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82880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Arial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Impact of Delivery Delays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4343400"/>
            <a:ext cx="603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4709160"/>
            <a:ext cx="3657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28800" y="48920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CA3AF"/>
                </a:solidFill>
                <a:latin typeface="Arial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There is a strong negative correlation between delivery time and customer review scores. Delayed shipments are the primary driver for 1-star reviews.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4617720"/>
            <a:ext cx="9144" cy="1371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00800" y="4892040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EF4444"/>
                </a:solidFill>
                <a:latin typeface="Arial Black"/>
              </a:defRPr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1.8/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5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EF4444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40080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9CA3AF"/>
                </a:solidFill>
                <a:latin typeface="Arial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 Score on Delay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55280" y="416052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138160" y="4343400"/>
            <a:ext cx="457200" cy="457200"/>
          </a:xfrm>
          <a:prstGeom prst="roundRect">
            <a:avLst/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1" name="Picture 70" descr="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4389120"/>
            <a:ext cx="365760" cy="36576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515600" y="4343400"/>
            <a:ext cx="704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05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4892040"/>
            <a:ext cx="36576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13816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Revenue Concentration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5349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Revenue is highly concentrated geographically in São Paulo (SP) and Rio de Janeiro (RJ), and categorically in Bed &amp; Bath.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57200"/>
            <a:ext cx="4572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6304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4B8A6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FINAL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"/>
            <a:ext cx="9409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Conclusion &amp; Recommendations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640080"/>
            <a:ext cx="2011680" cy="365760"/>
          </a:xfrm>
          <a:prstGeom prst="roundRect">
            <a:avLst/>
          </a:prstGeom>
          <a:solidFill>
            <a:srgbClr val="1E293B">
              <a:alpha val="80000"/>
            </a:srgbClr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Picture 29" descr="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731520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6696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Action Plan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16459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8872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9CA3A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Opportunities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2011680"/>
            <a:ext cx="6858000" cy="4605865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88720" y="2194560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6" name="Picture 35" descr="TruckF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240280"/>
            <a:ext cx="365760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828800" y="2194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 Logistics in High-Delay States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2423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Target regions with &gt;15 day delivery times (e.g., North/Northeast) by establishing local partnerships or switching carriers.</a:t>
            </a:r>
          </a:p>
        </p:txBody>
      </p:sp>
      <p:sp>
        <p:nvSpPr>
          <p:cNvPr id="39" name="Oval 38"/>
          <p:cNvSpPr/>
          <p:nvPr/>
        </p:nvSpPr>
        <p:spPr>
          <a:xfrm>
            <a:off x="1188720" y="3063240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0" name="Picture 39" descr="Calenda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108960"/>
            <a:ext cx="365760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828800" y="3063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Optimize Operations for Weekday Demand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3291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Align customer support and warehouse staffing with the Mon-Fri peak order volume (10 AM - 4 PM).</a:t>
            </a:r>
          </a:p>
        </p:txBody>
      </p:sp>
      <p:sp>
        <p:nvSpPr>
          <p:cNvPr id="43" name="Oval 42"/>
          <p:cNvSpPr/>
          <p:nvPr/>
        </p:nvSpPr>
        <p:spPr>
          <a:xfrm>
            <a:off x="1188720" y="3931920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4" name="Picture 43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977640"/>
            <a:ext cx="365760" cy="3657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82880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Focus on High-Performing Products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41605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Increase inventory depth for 'Bed &amp; Bath' and 'Health &amp; Beauty' categories to prevent stockouts during peak seasons.</a:t>
            </a:r>
          </a:p>
        </p:txBody>
      </p:sp>
      <p:sp>
        <p:nvSpPr>
          <p:cNvPr id="47" name="Oval 46"/>
          <p:cNvSpPr/>
          <p:nvPr/>
        </p:nvSpPr>
        <p:spPr>
          <a:xfrm>
            <a:off x="1188720" y="4800600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8" name="Picture 47" descr="Stopw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4846320"/>
            <a:ext cx="365760" cy="3657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8288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Reduce Delivery Time to Boost Satisfaction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5029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Implement a goal to keep delivery under 10 days; data shows this is the inflection point for 5-star reviews.</a:t>
            </a:r>
          </a:p>
        </p:txBody>
      </p:sp>
      <p:sp>
        <p:nvSpPr>
          <p:cNvPr id="51" name="Oval 50"/>
          <p:cNvSpPr/>
          <p:nvPr/>
        </p:nvSpPr>
        <p:spPr>
          <a:xfrm>
            <a:off x="1188720" y="5669280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2" name="Picture 51" descr="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5715000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82880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Continuous Monitoring via Dashboards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58978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Utilize the deployed Power BI reports for real-time tracking of KPIs and automated alerts for revenue dips.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9CA3AF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Immediate Next Steps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3644" y="1645920"/>
            <a:ext cx="448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3B82F6"/>
                </a:solidFill>
                <a:latin typeface="Arial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&gt;&gt;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1985603"/>
            <a:ext cx="3474720" cy="4631942"/>
          </a:xfrm>
          <a:prstGeom prst="roundRect">
            <a:avLst>
              <a:gd name="adj" fmla="val 500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339052" y="2001556"/>
            <a:ext cx="3291840" cy="45719"/>
          </a:xfrm>
          <a:custGeom>
            <a:avLst/>
            <a:gdLst>
              <a:gd name="connsiteX0" fmla="*/ 0 w 3291840"/>
              <a:gd name="connsiteY0" fmla="*/ 0 h 45719"/>
              <a:gd name="connsiteX1" fmla="*/ 3291840 w 3291840"/>
              <a:gd name="connsiteY1" fmla="*/ 0 h 45719"/>
              <a:gd name="connsiteX2" fmla="*/ 3291840 w 3291840"/>
              <a:gd name="connsiteY2" fmla="*/ 45719 h 45719"/>
              <a:gd name="connsiteX3" fmla="*/ 0 w 3291840"/>
              <a:gd name="connsiteY3" fmla="*/ 45719 h 45719"/>
              <a:gd name="connsiteX4" fmla="*/ 0 w 3291840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1840" h="45719" fill="none" extrusionOk="0">
                <a:moveTo>
                  <a:pt x="0" y="0"/>
                </a:moveTo>
                <a:cubicBezTo>
                  <a:pt x="1418740" y="115851"/>
                  <a:pt x="2284556" y="-150444"/>
                  <a:pt x="3291840" y="0"/>
                </a:cubicBezTo>
                <a:cubicBezTo>
                  <a:pt x="3293688" y="5260"/>
                  <a:pt x="3295712" y="28381"/>
                  <a:pt x="3291840" y="45719"/>
                </a:cubicBezTo>
                <a:cubicBezTo>
                  <a:pt x="2355413" y="55871"/>
                  <a:pt x="354686" y="59011"/>
                  <a:pt x="0" y="45719"/>
                </a:cubicBezTo>
                <a:cubicBezTo>
                  <a:pt x="-3012" y="38995"/>
                  <a:pt x="3179" y="15972"/>
                  <a:pt x="0" y="0"/>
                </a:cubicBezTo>
                <a:close/>
              </a:path>
              <a:path w="3291840" h="45719" stroke="0" extrusionOk="0">
                <a:moveTo>
                  <a:pt x="0" y="0"/>
                </a:moveTo>
                <a:cubicBezTo>
                  <a:pt x="406594" y="90431"/>
                  <a:pt x="2846977" y="104194"/>
                  <a:pt x="3291840" y="0"/>
                </a:cubicBezTo>
                <a:cubicBezTo>
                  <a:pt x="3291629" y="7275"/>
                  <a:pt x="3288679" y="39512"/>
                  <a:pt x="3291840" y="45719"/>
                </a:cubicBezTo>
                <a:cubicBezTo>
                  <a:pt x="2074399" y="87786"/>
                  <a:pt x="1289750" y="62465"/>
                  <a:pt x="0" y="45719"/>
                </a:cubicBezTo>
                <a:cubicBezTo>
                  <a:pt x="-2265" y="37642"/>
                  <a:pt x="-3353" y="21256"/>
                  <a:pt x="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202646822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686800" y="2834640"/>
            <a:ext cx="9144" cy="2743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8549640" y="301752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54964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Prioritize Logistics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Renegotiate SLAs with carriers for underperforming states.</a:t>
            </a:r>
          </a:p>
        </p:txBody>
      </p:sp>
      <p:sp>
        <p:nvSpPr>
          <p:cNvPr id="64" name="Oval 63"/>
          <p:cNvSpPr/>
          <p:nvPr/>
        </p:nvSpPr>
        <p:spPr>
          <a:xfrm>
            <a:off x="8549640" y="402336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549640" y="4023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Refine Inventory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425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Adjust stock placement based on regional demand maps.</a:t>
            </a:r>
          </a:p>
        </p:txBody>
      </p:sp>
      <p:sp>
        <p:nvSpPr>
          <p:cNvPr id="68" name="Oval 67"/>
          <p:cNvSpPr/>
          <p:nvPr/>
        </p:nvSpPr>
        <p:spPr>
          <a:xfrm>
            <a:off x="8549640" y="502920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549640" y="5029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rial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Iterate KPIs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5257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CA3AF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Quarterly review of dashboard metrics with stakeholders.</a:t>
            </a:r>
          </a:p>
        </p:txBody>
      </p:sp>
      <p:pic>
        <p:nvPicPr>
          <p:cNvPr id="72" name="Picture 71" descr="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9581" y="5474929"/>
            <a:ext cx="854964" cy="854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3417595" y="1113029"/>
            <a:ext cx="5486400" cy="4631942"/>
          </a:xfrm>
          <a:prstGeom prst="roundRect">
            <a:avLst>
              <a:gd name="adj" fmla="val 500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05270" y="2521435"/>
            <a:ext cx="53110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kumimoji="0" lang="en-IN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te" panose="03060902040502070203" pitchFamily="66" charset="0"/>
              </a:rPr>
              <a:t>Thank You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rPr lang="en-IN" sz="7200" b="1" dirty="0">
                <a:solidFill>
                  <a:srgbClr val="FFFFFF"/>
                </a:solidFill>
                <a:latin typeface="Forte" panose="03060902040502070203" pitchFamily="66" charset="0"/>
              </a:rPr>
              <a:t>😊</a:t>
            </a:r>
            <a:endParaRPr kumimoji="0" sz="7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rte" panose="03060902040502070203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A367D-CC1A-4314-88FF-152057B2217D}"/>
              </a:ext>
            </a:extLst>
          </p:cNvPr>
          <p:cNvSpPr txBox="1"/>
          <p:nvPr/>
        </p:nvSpPr>
        <p:spPr>
          <a:xfrm>
            <a:off x="9337964" y="5855807"/>
            <a:ext cx="283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Author: Mohammad Faiz</a:t>
            </a:r>
          </a:p>
        </p:txBody>
      </p:sp>
    </p:spTree>
    <p:extLst>
      <p:ext uri="{BB962C8B-B14F-4D97-AF65-F5344CB8AC3E}">
        <p14:creationId xmlns:p14="http://schemas.microsoft.com/office/powerpoint/2010/main" val="26536959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1384</Words>
  <Application>Microsoft Office PowerPoint</Application>
  <PresentationFormat>Widescreen</PresentationFormat>
  <Paragraphs>254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Malgun Gothic</vt:lpstr>
      <vt:lpstr>Arial</vt:lpstr>
      <vt:lpstr>Arial Black</vt:lpstr>
      <vt:lpstr>Calibri</vt:lpstr>
      <vt:lpstr>Courier New</vt:lpstr>
      <vt:lpstr>Forte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Faiz Syed</cp:lastModifiedBy>
  <cp:revision>13</cp:revision>
  <dcterms:created xsi:type="dcterms:W3CDTF">2013-01-27T09:14:16Z</dcterms:created>
  <dcterms:modified xsi:type="dcterms:W3CDTF">2026-03-24T06:49:10Z</dcterms:modified>
  <cp:category/>
</cp:coreProperties>
</file>